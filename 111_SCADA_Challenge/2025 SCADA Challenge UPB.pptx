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WiEKeGrbjtJhCVz8eujTzu+3+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0FC74-C1D3-4577-9804-59FA70C83E68}" v="69" dt="2025-11-14T10:45:17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 Banica" userId="l9Lx/tGWhs/56L6fOA1DeuhJnSQbNF93qPn2vjYZxno=" providerId="None" clId="Web-{9180FC74-C1D3-4577-9804-59FA70C83E68}"/>
    <pc:docChg chg="modSld">
      <pc:chgData name="Marian Banica" userId="l9Lx/tGWhs/56L6fOA1DeuhJnSQbNF93qPn2vjYZxno=" providerId="None" clId="Web-{9180FC74-C1D3-4577-9804-59FA70C83E68}" dt="2025-11-14T10:45:17.289" v="35" actId="20577"/>
      <pc:docMkLst>
        <pc:docMk/>
      </pc:docMkLst>
      <pc:sldChg chg="modSp">
        <pc:chgData name="Marian Banica" userId="l9Lx/tGWhs/56L6fOA1DeuhJnSQbNF93qPn2vjYZxno=" providerId="None" clId="Web-{9180FC74-C1D3-4577-9804-59FA70C83E68}" dt="2025-11-14T10:45:17.289" v="35" actId="20577"/>
        <pc:sldMkLst>
          <pc:docMk/>
          <pc:sldMk cId="0" sldId="267"/>
        </pc:sldMkLst>
        <pc:spChg chg="mod">
          <ac:chgData name="Marian Banica" userId="l9Lx/tGWhs/56L6fOA1DeuhJnSQbNF93qPn2vjYZxno=" providerId="None" clId="Web-{9180FC74-C1D3-4577-9804-59FA70C83E68}" dt="2025-11-14T10:45:17.289" v="35" actId="20577"/>
          <ac:spMkLst>
            <pc:docMk/>
            <pc:sldMk cId="0" sldId="267"/>
            <ac:spMk id="25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5" name="Google Shape;2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80335" y="2413694"/>
            <a:ext cx="10631328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lang="en-US" sz="525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The SCADA Challenge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045940" y="3613844"/>
            <a:ext cx="8100000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Developing Industrial Automation Prototypes for research &amp; education at Politehnica University of Bucharest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268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452687"/>
            <a:ext cx="34290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452687"/>
            <a:ext cx="34290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635918" y="3462337"/>
            <a:ext cx="13001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Monitor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866775" y="42338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Gather real-time data from sensors and field devices to visualize operational status.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470921" y="3462337"/>
            <a:ext cx="12501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Control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4676775" y="42338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Supervise and manage industrial processes locally or at remote locations.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415813" y="3462337"/>
            <a:ext cx="29803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Acquire &amp; Interface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8486775" y="46910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Collect and log data for analysis while using HMIs (Human-Machine Interfaces) to interact with machinery.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8825" y="27670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0" y="27670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5975" y="27670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571500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What is SCADA? (Supervisory Control and Data Acquisition)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571500" y="21717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Modern industry (Industry 4.0) is more complex than ever. SCADA systems are essential for managing: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714375" y="28575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09625" y="28575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Renewable Energy Integration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14375" y="32575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09625" y="32575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Smart Grids &amp; Power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14375" y="3657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809625" y="36576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Advanced Manufacturing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714375" y="4057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809625" y="40576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Smart Buildings &amp; Energy Management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New Industrial Challenge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1665446" y="2181225"/>
            <a:ext cx="8861107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The SCADA Challenge at UPB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762250" y="3228975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focused research initiative at the Politehnica University of Bucharest, engaging students in solving real-world industrial automation problems.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762250" y="4048125"/>
            <a:ext cx="66675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Key Faculties: Faculty of Automatic Control, Faculty of Electronics, Faculty of Energy Management, Faculty of </a:t>
            </a:r>
            <a:r>
              <a:rPr lang="en-US" sz="1650" b="1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Mechatronics</a:t>
            </a:r>
            <a:r>
              <a:rPr lang="en-US" sz="165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, etc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2190750" y="2809875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Bridge Theory and Practice: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Move from academic concepts to functional, real-world systems.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2190750" y="3286125"/>
            <a:ext cx="8191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Drive Research: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Provide a platform for developing and validating novel control and monitoring strategies.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2190750" y="4048125"/>
            <a:ext cx="81915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Build Prototypes: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Create tangible, working prototypes that can be tested in live environments (anything that can work at small scale &amp; to be integrated in a smart building)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2190750" y="4810125"/>
            <a:ext cx="8191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Innovate: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Develop open-source, cross-platform solutions for modern industrial challenges.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8575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337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0957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38325" y="48577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Program Objectives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571500" y="21717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primary challenge is managing modern power systems. Students are developing SCADA solutions to handle: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714375" y="28575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809625" y="2857500"/>
            <a:ext cx="5524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Load balancing with renewable sources (Small Scale Power Plant)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714375" y="32575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809625" y="32575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Real-time grid monitoring.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714375" y="36576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809625" y="36576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Energy quality and efficiency.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714375" y="40576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809625" y="40576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Smart building energy management.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Focus: Smart Energy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7812" y="223837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6334125" y="299085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Bucharest Demo 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6334125" y="3619500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key project involving UPB student &amp; researchers is the Bucharest demosite for a Smart Living Lab.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Prototype in Action: Smart Living 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375" y="1680075"/>
            <a:ext cx="5391925" cy="389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4587"/>
            <a:ext cx="5286375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414587"/>
            <a:ext cx="528637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 txBox="1"/>
          <p:nvPr/>
        </p:nvSpPr>
        <p:spPr>
          <a:xfrm>
            <a:off x="962025" y="28051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For Research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6724650" y="28051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For Students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1104900" y="34051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200150" y="34051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Validates new algorithms.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104900" y="3805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1200150" y="38052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Provides real-world data.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1104900" y="4205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 txBox="1"/>
          <p:nvPr/>
        </p:nvSpPr>
        <p:spPr>
          <a:xfrm>
            <a:off x="1200150" y="42052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Tests system stability &amp; security.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1104900" y="46053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1200150" y="46053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Leads to practical, publishable results.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6867525" y="34051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6962775" y="34051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Develops practical engineering skills.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6867525" y="3805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6962775" y="38052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Solves tangible problems.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6867525" y="42052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962775" y="42052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Creates impactful thesis work.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6867525" y="46053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6962775" y="46053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Prepares for high-level industry roles.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From Research to Reality: Why Prototypes?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6937"/>
            <a:ext cx="24765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29000" y="2166937"/>
            <a:ext cx="24765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2166937"/>
            <a:ext cx="2476500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2166937"/>
            <a:ext cx="2476500" cy="3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/>
          <p:nvPr/>
        </p:nvSpPr>
        <p:spPr>
          <a:xfrm>
            <a:off x="944641" y="3176587"/>
            <a:ext cx="173021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PLCs/RTUs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866775" y="3948112"/>
            <a:ext cx="1885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Interfacing with physical hardware and sensors.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3677126" y="3176587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HMI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3724275" y="4405312"/>
            <a:ext cx="1885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Designing user interfaces for operation and control.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6534626" y="3176587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Data Historians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6581775" y="4405312"/>
            <a:ext cx="1885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Managing and logging time-series data for analysis.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9392126" y="3176587"/>
            <a:ext cx="19802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Network Protocols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9439275" y="4405312"/>
            <a:ext cx="1885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Ensuring device communication (e.g., Modbus, OPC UA).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1150" y="248126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81500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96500" y="24812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Core Technologies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1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 txBox="1"/>
          <p:nvPr/>
        </p:nvSpPr>
        <p:spPr>
          <a:xfrm>
            <a:off x="2057400" y="2673850"/>
            <a:ext cx="8068800" cy="21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"This initiative allows master degree or PhD candidates to not just theorize, but to build, test, and deploy systems that solve the next generation of industrial challenges."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581150" y="2959596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0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10334625" y="449847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n-US" sz="7500" b="0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Research </a:t>
            </a: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Accelerator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1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5987"/>
            <a:ext cx="5286375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85987"/>
            <a:ext cx="5286375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 txBox="1"/>
          <p:nvPr/>
        </p:nvSpPr>
        <p:spPr>
          <a:xfrm>
            <a:off x="962025" y="2576512"/>
            <a:ext cx="473059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This program is for students passionate about: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6724650" y="25765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Get Involved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6724650" y="3205162"/>
            <a:ext cx="45054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For more information, contact the Smart Living Lab@UPB (https://www.github.com/smartlivinglab)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/>
        </p:nvSpPr>
        <p:spPr>
          <a:xfrm>
            <a:off x="1104900" y="36337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1200150" y="36337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Industrial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1104900" y="40338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1200150" y="40338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Control Systems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104900" y="4433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1200150" y="443388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Software Development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1104900" y="48339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1200150" y="4833937"/>
            <a:ext cx="4267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Energy Engineering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Are You Ready for the Challenge?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 txBox="1"/>
          <p:nvPr/>
        </p:nvSpPr>
        <p:spPr>
          <a:xfrm>
            <a:off x="295275" y="2490787"/>
            <a:ext cx="1160145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</a:p>
          <a:p>
            <a:pPr algn="ctr">
              <a:buSzPts val="6000"/>
            </a:pPr>
            <a:r>
              <a:rPr lang="en-US" sz="2000" b="1" dirty="0" err="1">
                <a:solidFill>
                  <a:srgbClr val="64FFDA"/>
                </a:solidFill>
                <a:latin typeface="Poppins"/>
                <a:cs typeface="Poppins"/>
              </a:rPr>
              <a:t>Drd.Ing.Contol</a:t>
            </a:r>
            <a:r>
              <a:rPr lang="en-US" sz="2000" b="1">
                <a:solidFill>
                  <a:srgbClr val="64FFDA"/>
                </a:solidFill>
                <a:latin typeface="Poppins"/>
                <a:cs typeface="Poppins"/>
              </a:rPr>
              <a:t> Eng. Marian Banica (412)</a:t>
            </a:r>
            <a:endParaRPr lang="en-US" sz="2000" b="1" dirty="0">
              <a:solidFill>
                <a:srgbClr val="64FFDA"/>
              </a:solidFill>
              <a:latin typeface="Poppins"/>
              <a:cs typeface="Poppins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571500" y="384333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A192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/>
          <p:nvPr/>
        </p:nvSpPr>
        <p:spPr>
          <a:xfrm>
            <a:off x="1995487" y="3514725"/>
            <a:ext cx="8201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1995487" y="4286250"/>
            <a:ext cx="82010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5487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3"/>
          <p:cNvSpPr txBox="1"/>
          <p:nvPr/>
        </p:nvSpPr>
        <p:spPr>
          <a:xfrm>
            <a:off x="3090862" y="2902743"/>
            <a:ext cx="71056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https://www.automationreadypanels.com/wp-content/uploads/2024/01/Human-Machine-Interface-HMI-750x400-1.jpeg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3090862" y="3136106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www.automationreadypanels.com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95487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3"/>
          <p:cNvSpPr txBox="1"/>
          <p:nvPr/>
        </p:nvSpPr>
        <p:spPr>
          <a:xfrm>
            <a:off x="3090862" y="3674268"/>
            <a:ext cx="71056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https://pub.mdpi-res.com/energies/energies-18-02221/article_deploy/html/images/energies-18-02221-ag-550.jpg?1746178523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3090862" y="3907631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www.mdpi.com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95487" y="4438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 txBox="1"/>
          <p:nvPr/>
        </p:nvSpPr>
        <p:spPr>
          <a:xfrm>
            <a:off x="3090862" y="4445793"/>
            <a:ext cx="71056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https://nzeb.in/wp-content/uploads/2015/08/geothermal-V2.jpg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 txBox="1"/>
          <p:nvPr/>
        </p:nvSpPr>
        <p:spPr>
          <a:xfrm>
            <a:off x="3090862" y="4679156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nzeb.in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</cp:revision>
  <dcterms:modified xsi:type="dcterms:W3CDTF">2025-11-14T10:45:21Z</dcterms:modified>
</cp:coreProperties>
</file>